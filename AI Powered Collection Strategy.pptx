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63" r:id="rId4"/>
    <p:sldId id="264" r:id="rId5"/>
    <p:sldId id="265" r:id="rId6"/>
    <p:sldId id="266" r:id="rId7"/>
    <p:sldId id="259" r:id="rId8"/>
    <p:sldId id="260" r:id="rId9"/>
    <p:sldId id="261" r:id="rId10"/>
  </p:sldIdLst>
  <p:sldSz cx="9144000" cy="5143500" type="screen16x9"/>
  <p:notesSz cx="6858000" cy="9144000"/>
  <p:embeddedFontLst>
    <p:embeddedFont>
      <p:font typeface="Roboto Slab" charset="0"/>
      <p:regular r:id="rId12"/>
      <p:bold r:id="rId13"/>
    </p:embeddedFont>
    <p:embeddedFont>
      <p:font typeface="Roboto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1408"/>
  </p:normalViewPr>
  <p:slideViewPr>
    <p:cSldViewPr snapToGrid="0">
      <p:cViewPr>
        <p:scale>
          <a:sx n="87" d="100"/>
          <a:sy n="87" d="100"/>
        </p:scale>
        <p:origin x="-876" y="1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4454515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 a simple outline for an AI collections system workflow, including inputs, decision logic, action triggers, and learning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key customer attributes that would be most predictive for collections decision-making, and explain why each one matters.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examples of business rules and AI-driven actions the system could use at different risk levels (e.g., low, medium, high risk).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a rough sketch or step-by-step description of how customer data flows through the system from intake to action.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Explain how agentic AI could automate financial collections while keeping humans in critical decision points.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examples of collection actions, and classify each as best suited for full automation or requiring human oversight, with a brief reason why.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key fairness, transparency, and compliance practices to build into an AI-powered credit collections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specific ways to monitor and audit the system over time to ensure it stays fair, compliant, and effective.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KPIs for an AI-powered collections strategy that balances business outcomes with customer fairness.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Describe 2–3 ways an AI collections system could improve both operational efficiency and customer experience.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/>
              <a:t>AI-Powered Collections Strategy</a:t>
            </a:r>
            <a:endParaRPr sz="3000"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Leveraging Agentic AI for Scalable, Fair, and Effective Debt Management at Geldium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 System Works</a:t>
            </a:r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Inputs</a:t>
            </a:r>
            <a:r>
              <a:rPr lang="en-GB" sz="1600" dirty="0"/>
              <a:t>: What customer data is collected (e.g., demographics, repayment history, credit utilization)?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Decision Logic</a:t>
            </a:r>
            <a:r>
              <a:rPr lang="en-GB" sz="1600" dirty="0"/>
              <a:t>: How are actions determined? Does the system use business rules, model predictions, or both?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Actions</a:t>
            </a:r>
            <a:r>
              <a:rPr lang="en-GB" sz="1600" dirty="0"/>
              <a:t>: What outreach or interventions would be triggered (e.g., payment reminders, hardship offers)?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Learning</a:t>
            </a:r>
            <a:r>
              <a:rPr lang="en-GB" sz="1600" dirty="0"/>
              <a:t>: How will the system track outcomes and improve over time?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419" y="3877129"/>
            <a:ext cx="6773863" cy="55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Customer Data Inputs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Customer financial data (Income, Credit Score, Debt-to-Income Ratio)</a:t>
            </a:r>
          </a:p>
          <a:p>
            <a:r>
              <a:rPr lang="en-IN" dirty="0"/>
              <a:t>Credit behavior data (Credit Utilization, Missed Payments)</a:t>
            </a:r>
          </a:p>
          <a:p>
            <a:r>
              <a:rPr lang="en-IN" dirty="0"/>
              <a:t>Payment history (Month 1–Month 6)</a:t>
            </a:r>
          </a:p>
          <a:p>
            <a:r>
              <a:rPr lang="en-IN" dirty="0"/>
              <a:t>Account information (Loan Balance, Account Tenure)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5789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AI Risk Assessment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Predictive model calculates </a:t>
            </a:r>
            <a:r>
              <a:rPr lang="en-IN" b="1" dirty="0"/>
              <a:t>delinquency risk score</a:t>
            </a:r>
            <a:endParaRPr lang="en-IN" dirty="0"/>
          </a:p>
          <a:p>
            <a:r>
              <a:rPr lang="en-IN" dirty="0"/>
              <a:t>Key drivers analyzed:</a:t>
            </a:r>
          </a:p>
          <a:p>
            <a:pPr marL="114300" indent="0">
              <a:buNone/>
            </a:pPr>
            <a:r>
              <a:rPr lang="en-IN" dirty="0" smtClean="0"/>
              <a:t>- Credit </a:t>
            </a:r>
            <a:r>
              <a:rPr lang="en-IN" dirty="0"/>
              <a:t>utilization</a:t>
            </a:r>
          </a:p>
          <a:p>
            <a:pPr marL="114300" indent="0">
              <a:buNone/>
            </a:pPr>
            <a:r>
              <a:rPr lang="en-IN" dirty="0" smtClean="0"/>
              <a:t>- Missed </a:t>
            </a:r>
            <a:r>
              <a:rPr lang="en-IN" dirty="0"/>
              <a:t>payments</a:t>
            </a:r>
          </a:p>
          <a:p>
            <a:pPr marL="114300" indent="0">
              <a:buNone/>
            </a:pPr>
            <a:r>
              <a:rPr lang="en-IN" dirty="0" smtClean="0"/>
              <a:t>- Debt-to-income </a:t>
            </a:r>
            <a:r>
              <a:rPr lang="en-IN" dirty="0"/>
              <a:t>ratio</a:t>
            </a:r>
          </a:p>
          <a:p>
            <a:pPr marL="114300" indent="0">
              <a:buNone/>
            </a:pPr>
            <a:r>
              <a:rPr lang="en-IN" dirty="0" smtClean="0"/>
              <a:t>- Credit </a:t>
            </a:r>
            <a:r>
              <a:rPr lang="en-IN" dirty="0"/>
              <a:t>score</a:t>
            </a:r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5483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Automated Decision Logic &amp; Automated Actions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Customers categorized into </a:t>
            </a:r>
            <a:r>
              <a:rPr lang="en-IN" b="1" dirty="0"/>
              <a:t>risk tiers</a:t>
            </a:r>
            <a:endParaRPr lang="en-IN" dirty="0"/>
          </a:p>
          <a:p>
            <a:pPr marL="114300" indent="0">
              <a:buNone/>
            </a:pPr>
            <a:r>
              <a:rPr lang="en-IN" dirty="0" smtClean="0"/>
              <a:t>-Low Risk</a:t>
            </a:r>
            <a:endParaRPr lang="en-IN" dirty="0"/>
          </a:p>
          <a:p>
            <a:pPr marL="114300" indent="0">
              <a:buNone/>
            </a:pPr>
            <a:r>
              <a:rPr lang="en-IN" dirty="0" smtClean="0"/>
              <a:t>-Medium Risk</a:t>
            </a:r>
            <a:endParaRPr lang="en-IN" dirty="0"/>
          </a:p>
          <a:p>
            <a:pPr marL="114300" indent="0">
              <a:buNone/>
            </a:pPr>
            <a:r>
              <a:rPr lang="en-IN" dirty="0" smtClean="0"/>
              <a:t>-High </a:t>
            </a:r>
            <a:r>
              <a:rPr lang="en-IN" dirty="0"/>
              <a:t>Risk</a:t>
            </a:r>
          </a:p>
          <a:p>
            <a:endParaRPr lang="en-IN" dirty="0" smtClean="0"/>
          </a:p>
          <a:p>
            <a:r>
              <a:rPr lang="en-IN" dirty="0"/>
              <a:t>Low risk → Payment reminders</a:t>
            </a:r>
          </a:p>
          <a:p>
            <a:r>
              <a:rPr lang="en-IN" dirty="0"/>
              <a:t>Medium risk → Personalized repayment plans</a:t>
            </a:r>
          </a:p>
          <a:p>
            <a:r>
              <a:rPr lang="en-IN" dirty="0"/>
              <a:t>High risk → Collections team outreach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2278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Learning Loop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System tracks outcomes of interventions</a:t>
            </a:r>
          </a:p>
          <a:p>
            <a:r>
              <a:rPr lang="en-IN" dirty="0"/>
              <a:t>Updates model using new payment behavior</a:t>
            </a:r>
          </a:p>
          <a:p>
            <a:r>
              <a:rPr lang="en-IN" dirty="0"/>
              <a:t>Improves predictions over time through continuous learning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4959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of Agentic AI</a:t>
            </a:r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endParaRPr lang="en-IN" dirty="0" smtClean="0"/>
          </a:p>
          <a:p>
            <a:pPr marL="114300" indent="0">
              <a:buNone/>
            </a:pPr>
            <a:r>
              <a:rPr lang="en-GB" dirty="0" smtClean="0"/>
              <a:t> </a:t>
            </a:r>
            <a:endParaRPr lang="en-GB" dirty="0"/>
          </a:p>
        </p:txBody>
      </p:sp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177" y="1752146"/>
            <a:ext cx="6973887" cy="235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Responsible AI Guardrails</a:t>
            </a:r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1600" b="1" dirty="0"/>
              <a:t>Fairness Monitoring</a:t>
            </a:r>
            <a:endParaRPr lang="en-IN" sz="1600" dirty="0"/>
          </a:p>
          <a:p>
            <a:pPr marL="114300" indent="0">
              <a:buNone/>
            </a:pPr>
            <a:r>
              <a:rPr lang="en-IN" sz="1600" dirty="0" smtClean="0"/>
              <a:t> Regular </a:t>
            </a:r>
            <a:r>
              <a:rPr lang="en-IN" sz="1600" dirty="0"/>
              <a:t>audits to ensure the model does not unfairly impact certain customer groups.</a:t>
            </a:r>
          </a:p>
          <a:p>
            <a:r>
              <a:rPr lang="en-IN" sz="1600" b="1" dirty="0"/>
              <a:t>Explainability</a:t>
            </a:r>
            <a:endParaRPr lang="en-IN" sz="1600" dirty="0"/>
          </a:p>
          <a:p>
            <a:pPr marL="114300" indent="0">
              <a:buNone/>
            </a:pPr>
            <a:r>
              <a:rPr lang="en-IN" sz="1600" dirty="0" smtClean="0"/>
              <a:t>Provide </a:t>
            </a:r>
            <a:r>
              <a:rPr lang="en-IN" sz="1600" dirty="0"/>
              <a:t>clear explanations of risk predictions using key factors like missed payments </a:t>
            </a:r>
            <a:r>
              <a:rPr lang="en-IN" sz="1600" dirty="0" smtClean="0"/>
              <a:t> and </a:t>
            </a:r>
            <a:r>
              <a:rPr lang="en-IN" sz="1600" dirty="0"/>
              <a:t>credit utilization.</a:t>
            </a:r>
          </a:p>
          <a:p>
            <a:r>
              <a:rPr lang="en-IN" sz="1600" b="1" dirty="0"/>
              <a:t>Human-in-the-Loop Oversight</a:t>
            </a:r>
            <a:endParaRPr lang="en-IN" sz="1600" dirty="0"/>
          </a:p>
          <a:p>
            <a:pPr marL="114300" indent="0">
              <a:buNone/>
            </a:pPr>
            <a:r>
              <a:rPr lang="en-IN" sz="1600" dirty="0"/>
              <a:t>Require human review for high-risk decisions or account escalation.</a:t>
            </a:r>
          </a:p>
          <a:p>
            <a:r>
              <a:rPr lang="en-IN" sz="1600" b="1" dirty="0"/>
              <a:t>Regulatory Compliance</a:t>
            </a:r>
            <a:endParaRPr lang="en-IN" sz="1600" dirty="0"/>
          </a:p>
          <a:p>
            <a:pPr marL="114300" indent="0">
              <a:buNone/>
            </a:pPr>
            <a:r>
              <a:rPr lang="en-IN" sz="1600" dirty="0"/>
              <a:t>Ensure alignment with financial regulations, responsible lending practices, and data privacy requirements.</a:t>
            </a:r>
          </a:p>
          <a:p>
            <a:pPr>
              <a:buNone/>
            </a:pPr>
            <a:endParaRPr lang="en-GB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Business Impact</a:t>
            </a:r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1600" b="1" dirty="0"/>
              <a:t>Business KPIs</a:t>
            </a:r>
          </a:p>
          <a:p>
            <a:pPr marL="114300" indent="0">
              <a:buNone/>
            </a:pPr>
            <a:r>
              <a:rPr lang="en-IN" sz="1600" dirty="0" smtClean="0"/>
              <a:t>- 10–15</a:t>
            </a:r>
            <a:r>
              <a:rPr lang="en-IN" sz="1600" dirty="0"/>
              <a:t>% reduction in delinquency rates</a:t>
            </a:r>
          </a:p>
          <a:p>
            <a:pPr marL="114300" indent="0">
              <a:buNone/>
            </a:pPr>
            <a:r>
              <a:rPr lang="en-IN" sz="1600" dirty="0" smtClean="0"/>
              <a:t>- 20</a:t>
            </a:r>
            <a:r>
              <a:rPr lang="en-IN" sz="1600" dirty="0"/>
              <a:t>% faster identification of high-risk customers</a:t>
            </a:r>
          </a:p>
          <a:p>
            <a:pPr marL="114300" indent="0">
              <a:buNone/>
            </a:pPr>
            <a:r>
              <a:rPr lang="en-IN" sz="1600" dirty="0" smtClean="0"/>
              <a:t>- 15</a:t>
            </a:r>
            <a:r>
              <a:rPr lang="en-IN" sz="1600" dirty="0"/>
              <a:t>% improvement in collections recovery rates</a:t>
            </a:r>
          </a:p>
          <a:p>
            <a:pPr marL="114300" indent="0">
              <a:buNone/>
            </a:pPr>
            <a:r>
              <a:rPr lang="en-IN" sz="1600" dirty="0" smtClean="0"/>
              <a:t>- Lower </a:t>
            </a:r>
            <a:r>
              <a:rPr lang="en-IN" sz="1600" dirty="0"/>
              <a:t>operational costs through automation</a:t>
            </a:r>
          </a:p>
          <a:p>
            <a:pPr marL="114300" indent="0">
              <a:buNone/>
            </a:pPr>
            <a:r>
              <a:rPr lang="en-IN" sz="1600" dirty="0" smtClean="0"/>
              <a:t>- Improved </a:t>
            </a:r>
            <a:r>
              <a:rPr lang="en-IN" sz="1600" dirty="0"/>
              <a:t>model accuracy over time through continuous learning</a:t>
            </a:r>
          </a:p>
          <a:p>
            <a:r>
              <a:rPr lang="en-IN" sz="1600" b="1" dirty="0"/>
              <a:t>Customer Outcomes</a:t>
            </a:r>
          </a:p>
          <a:p>
            <a:pPr marL="114300" indent="0">
              <a:buNone/>
            </a:pPr>
            <a:r>
              <a:rPr lang="en-IN" sz="1600" dirty="0" smtClean="0"/>
              <a:t>- Earlier </a:t>
            </a:r>
            <a:r>
              <a:rPr lang="en-IN" sz="1600" dirty="0"/>
              <a:t>financial support for at-risk customers</a:t>
            </a:r>
          </a:p>
          <a:p>
            <a:pPr marL="114300" indent="0">
              <a:buNone/>
            </a:pPr>
            <a:r>
              <a:rPr lang="en-IN" sz="1600" dirty="0" smtClean="0"/>
              <a:t>- More </a:t>
            </a:r>
            <a:r>
              <a:rPr lang="en-IN" sz="1600" dirty="0"/>
              <a:t>personalized repayment options</a:t>
            </a:r>
          </a:p>
          <a:p>
            <a:pPr marL="114300" indent="0">
              <a:buNone/>
            </a:pPr>
            <a:r>
              <a:rPr lang="en-IN" sz="1600" dirty="0" smtClean="0"/>
              <a:t>- Reduced </a:t>
            </a:r>
            <a:r>
              <a:rPr lang="en-IN" sz="1600" dirty="0"/>
              <a:t>financial stress through proactive engagement</a:t>
            </a:r>
          </a:p>
          <a:p>
            <a:pPr marL="114300" indent="0">
              <a:buNone/>
            </a:pPr>
            <a:r>
              <a:rPr lang="en-IN" sz="1600" dirty="0" smtClean="0"/>
              <a:t>- Fair </a:t>
            </a:r>
            <a:r>
              <a:rPr lang="en-IN" sz="1600" dirty="0"/>
              <a:t>and transparent decision-making</a:t>
            </a:r>
          </a:p>
          <a:p>
            <a:pPr marL="114300" indent="0">
              <a:buNone/>
            </a:pPr>
            <a:r>
              <a:rPr lang="en-IN" sz="1600" dirty="0" smtClean="0"/>
              <a:t>- Improved </a:t>
            </a:r>
            <a:r>
              <a:rPr lang="en-IN" sz="1600" dirty="0"/>
              <a:t>customer trust and experience</a:t>
            </a:r>
          </a:p>
          <a:p>
            <a:pPr>
              <a:buNone/>
            </a:pPr>
            <a:endParaRPr lang="en-GB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581</Words>
  <Application>Microsoft Office PowerPoint</Application>
  <PresentationFormat>On-screen Show (16:9)</PresentationFormat>
  <Paragraphs>71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Roboto Slab</vt:lpstr>
      <vt:lpstr>Roboto</vt:lpstr>
      <vt:lpstr>Marina</vt:lpstr>
      <vt:lpstr>AI-Powered Collections Strategy</vt:lpstr>
      <vt:lpstr>How the System Works</vt:lpstr>
      <vt:lpstr>Customer Data Inputs</vt:lpstr>
      <vt:lpstr>AI Risk Assessment</vt:lpstr>
      <vt:lpstr>Automated Decision Logic &amp; Automated Actions</vt:lpstr>
      <vt:lpstr>Learning Loop</vt:lpstr>
      <vt:lpstr>Role of Agentic AI</vt:lpstr>
      <vt:lpstr>Responsible AI Guardrails</vt:lpstr>
      <vt:lpstr>Expected Business Impact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Collections Strategy</dc:title>
  <dc:creator>Akrati Nigam</dc:creator>
  <cp:lastModifiedBy>Akrati Nigam</cp:lastModifiedBy>
  <cp:revision>5</cp:revision>
  <dcterms:modified xsi:type="dcterms:W3CDTF">2026-03-09T16:56:14Z</dcterms:modified>
</cp:coreProperties>
</file>